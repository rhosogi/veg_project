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png" ContentType="image/png"/>
  <Default Extension="jpg" ContentType="image/jpeg"/>
  <Default Extension="rels" ContentType="application/vnd.openxmlformats-package.relationships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sldIdLst>
    <p:sldId id="256" r:id="rId2"/>
    <p:sldId id="261" r:id="rId3"/>
    <p:sldId id="260" r:id="rId4"/>
    <p:sldId id="266" r:id="rId5"/>
    <p:sldId id="267" r:id="rId6"/>
    <p:sldId id="265" r:id="rId7"/>
    <p:sldId id="263" r:id="rId8"/>
    <p:sldId id="264" r:id="rId9"/>
    <p:sldId id="257" r:id="rId10"/>
    <p:sldId id="259" r:id="rId11"/>
    <p:sldId id="262" r:id="rId12"/>
    <p:sldId id="258" r:id="rId13"/>
  </p:sldIdLst>
  <p:sldSz cx="9144000" cy="6858000" type="screen4x3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6772" autoAdjust="0"/>
    <p:restoredTop sz="99202" autoAdjust="0"/>
  </p:normalViewPr>
  <p:slideViewPr>
    <p:cSldViewPr snapToGrid="0" snapToObjects="1">
      <p:cViewPr>
        <p:scale>
          <a:sx n="100" d="100"/>
          <a:sy n="100" d="100"/>
        </p:scale>
        <p:origin x="-1288" y="-40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printerSettings" Target="printerSettings/printerSettings1.bin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1328166" y="1295400"/>
            <a:ext cx="6487668" cy="3152887"/>
          </a:xfrm>
          <a:prstGeom prst="rect">
            <a:avLst/>
          </a:prstGeom>
          <a:ln w="3175">
            <a:solidFill>
              <a:schemeClr val="bg1"/>
            </a:solidFill>
          </a:ln>
          <a:effectLst>
            <a:outerShdw blurRad="63500" sx="100500" sy="100500" algn="ctr" rotWithShape="0">
              <a:prstClr val="black">
                <a:alpha val="50000"/>
              </a:prstClr>
            </a:outerShdw>
          </a:effectLst>
        </p:spPr>
        <p:txBody>
          <a:bodyPr vert="horz" lIns="91440" tIns="45720" rIns="91440" bIns="45720" rtlCol="0">
            <a:normAutofit/>
          </a:bodyPr>
          <a:lstStyle/>
          <a:p>
            <a:pPr marL="0" indent="0" algn="l" defTabSz="914400" rtl="0" eaLnBrk="1" latinLnBrk="0" hangingPunct="1">
              <a:spcBef>
                <a:spcPts val="2000"/>
              </a:spcBef>
              <a:buClr>
                <a:schemeClr val="accent1">
                  <a:lumMod val="60000"/>
                  <a:lumOff val="40000"/>
                </a:schemeClr>
              </a:buClr>
              <a:buSzPct val="110000"/>
              <a:buFont typeface="Wingdings 2" pitchFamily="18" charset="2"/>
              <a:buNone/>
            </a:pPr>
            <a:endParaRPr sz="3200" kern="120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endParaRPr>
          </a:p>
        </p:txBody>
      </p: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322921" y="1523999"/>
            <a:ext cx="6498158" cy="1724867"/>
          </a:xfrm>
        </p:spPr>
        <p:txBody>
          <a:bodyPr vert="horz" lIns="91440" tIns="45720" rIns="91440" bIns="45720" rtlCol="0" anchor="b" anchorCtr="0">
            <a:noAutofit/>
          </a:bodyPr>
          <a:lstStyle>
            <a:lvl1pPr marL="0" indent="0" algn="ctr" defTabSz="914400" rtl="0" eaLnBrk="1" latinLnBrk="0" hangingPunct="1">
              <a:spcBef>
                <a:spcPct val="0"/>
              </a:spcBef>
              <a:buClr>
                <a:schemeClr val="accent1">
                  <a:lumMod val="60000"/>
                  <a:lumOff val="40000"/>
                </a:schemeClr>
              </a:buClr>
              <a:buSzPct val="110000"/>
              <a:buFont typeface="Wingdings 2" pitchFamily="18" charset="2"/>
              <a:buNone/>
              <a:defRPr sz="4600" kern="1200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mtClean="0"/>
              <a:t>Click to edit Master title style</a:t>
            </a:r>
            <a:endParaRPr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22921" y="3299012"/>
            <a:ext cx="6498159" cy="916641"/>
          </a:xfrm>
        </p:spPr>
        <p:txBody>
          <a:bodyPr vert="horz" lIns="91440" tIns="45720" rIns="91440" bIns="45720" rtlCol="0">
            <a:normAutofit/>
          </a:bodyPr>
          <a:lstStyle>
            <a:lvl1pPr marL="0" indent="0" algn="ctr" defTabSz="914400" rtl="0" eaLnBrk="1" latinLnBrk="0" hangingPunct="1">
              <a:spcBef>
                <a:spcPts val="300"/>
              </a:spcBef>
              <a:buClr>
                <a:schemeClr val="accent1">
                  <a:lumMod val="60000"/>
                  <a:lumOff val="40000"/>
                </a:schemeClr>
              </a:buClr>
              <a:buSzPct val="110000"/>
              <a:buFont typeface="Wingdings 2" pitchFamily="18" charset="2"/>
              <a:buNone/>
              <a:defRPr sz="18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01F9CA3-105E-4857-9057-6DB6197DA786}" type="datetimeFigureOut">
              <a:rPr lang="en-US" smtClean="0"/>
              <a:t>12/1/15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F5CE407-6216-4202-80E4-A30DC2F709B2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>
            <a:lvl5pPr>
              <a:defRPr/>
            </a:lvl5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01F9CA3-105E-4857-9057-6DB6197DA786}" type="datetimeFigureOut">
              <a:rPr lang="en-US" smtClean="0"/>
              <a:t>12/1/15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F5CE407-6216-4202-80E4-A30DC2F709B2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Slide with Pictu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363538" y="3352801"/>
            <a:ext cx="8416925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363538" y="4771029"/>
            <a:ext cx="8416925" cy="972671"/>
          </a:xfrm>
        </p:spPr>
        <p:txBody>
          <a:bodyPr>
            <a:normAutofit/>
          </a:bodyPr>
          <a:lstStyle>
            <a:lvl1pPr marL="0" indent="0" algn="ctr">
              <a:spcBef>
                <a:spcPts val="300"/>
              </a:spcBef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01F9CA3-105E-4857-9057-6DB6197DA786}" type="datetimeFigureOut">
              <a:rPr lang="en-US" smtClean="0"/>
              <a:t>12/1/15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F5CE407-6216-4202-80E4-A30DC2F709B2}" type="slidenum">
              <a:rPr lang="en-US" smtClean="0"/>
              <a:t>‹#›</a:t>
            </a:fld>
            <a:endParaRPr lang="en-US"/>
          </a:p>
        </p:txBody>
      </p:sp>
      <p:sp>
        <p:nvSpPr>
          <p:cNvPr id="9" name="Picture Placeholder 2"/>
          <p:cNvSpPr>
            <a:spLocks noGrp="1"/>
          </p:cNvSpPr>
          <p:nvPr>
            <p:ph type="pic" idx="13"/>
          </p:nvPr>
        </p:nvSpPr>
        <p:spPr>
          <a:xfrm>
            <a:off x="370980" y="363538"/>
            <a:ext cx="8402040" cy="2836862"/>
          </a:xfrm>
          <a:ln w="3175">
            <a:solidFill>
              <a:schemeClr val="bg1"/>
            </a:solidFill>
          </a:ln>
          <a:effectLst>
            <a:outerShdw blurRad="63500" sx="100500" sy="100500" algn="ctr" rotWithShape="0">
              <a:prstClr val="black">
                <a:alpha val="50000"/>
              </a:prstClr>
            </a:outerShdw>
          </a:effectLst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 smtClean="0"/>
              <a:t>Drag picture to placeholder or click icon to add</a:t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9275" y="2403144"/>
            <a:ext cx="8056563" cy="1362075"/>
          </a:xfrm>
        </p:spPr>
        <p:txBody>
          <a:bodyPr anchor="b" anchorCtr="0"/>
          <a:lstStyle>
            <a:lvl1pPr algn="ctr">
              <a:defRPr sz="4600" b="0" cap="none" baseline="0"/>
            </a:lvl1pPr>
          </a:lstStyle>
          <a:p>
            <a:r>
              <a:rPr lang="en-US" smtClean="0"/>
              <a:t>Click to edit Master title style</a:t>
            </a:r>
            <a:endParaRPr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49275" y="3736005"/>
            <a:ext cx="8056563" cy="1500187"/>
          </a:xfrm>
        </p:spPr>
        <p:txBody>
          <a:bodyPr anchor="t" anchorCtr="0">
            <a:normAutofit/>
          </a:bodyPr>
          <a:lstStyle>
            <a:lvl1pPr marL="0" indent="0" algn="ctr">
              <a:spcBef>
                <a:spcPts val="300"/>
              </a:spcBef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01F9CA3-105E-4857-9057-6DB6197DA786}" type="datetimeFigureOut">
              <a:rPr lang="en-US" smtClean="0"/>
              <a:t>12/1/15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F5CE407-6216-4202-80E4-A30DC2F709B2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9275" y="107576"/>
            <a:ext cx="8042276" cy="1336956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549275" y="1600201"/>
            <a:ext cx="3840480" cy="4343400"/>
          </a:xfrm>
        </p:spPr>
        <p:txBody>
          <a:bodyPr>
            <a:normAutofit/>
          </a:bodyPr>
          <a:lstStyle>
            <a:lvl1pPr>
              <a:spcBef>
                <a:spcPts val="1600"/>
              </a:spcBef>
              <a:defRPr sz="2000"/>
            </a:lvl1pPr>
            <a:lvl2pPr>
              <a:defRPr sz="18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751071" y="1600201"/>
            <a:ext cx="3840480" cy="4343400"/>
          </a:xfrm>
        </p:spPr>
        <p:txBody>
          <a:bodyPr>
            <a:normAutofit/>
          </a:bodyPr>
          <a:lstStyle>
            <a:lvl1pPr>
              <a:spcBef>
                <a:spcPts val="1600"/>
              </a:spcBef>
              <a:defRPr sz="2000"/>
            </a:lvl1pPr>
            <a:lvl2pPr>
              <a:defRPr sz="18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01F9CA3-105E-4857-9057-6DB6197DA786}" type="datetimeFigureOut">
              <a:rPr lang="en-US" smtClean="0"/>
              <a:t>12/1/15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F5CE407-6216-4202-80E4-A30DC2F709B2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9274" y="107576"/>
            <a:ext cx="8042276" cy="1336956"/>
          </a:xfrm>
        </p:spPr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49274" y="1453224"/>
            <a:ext cx="3840480" cy="750887"/>
          </a:xfrm>
        </p:spPr>
        <p:txBody>
          <a:bodyPr anchor="b">
            <a:noAutofit/>
          </a:bodyPr>
          <a:lstStyle>
            <a:lvl1pPr marL="0" indent="0" algn="ctr">
              <a:spcBef>
                <a:spcPts val="0"/>
              </a:spcBef>
              <a:buNone/>
              <a:defRPr sz="2400" b="0">
                <a:solidFill>
                  <a:schemeClr val="accent1">
                    <a:lumMod val="60000"/>
                    <a:lumOff val="4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49274" y="2347415"/>
            <a:ext cx="3840480" cy="3596185"/>
          </a:xfrm>
        </p:spPr>
        <p:txBody>
          <a:bodyPr>
            <a:normAutofit/>
          </a:bodyPr>
          <a:lstStyle>
            <a:lvl1pPr>
              <a:spcBef>
                <a:spcPts val="1600"/>
              </a:spcBef>
              <a:defRPr sz="2000"/>
            </a:lvl1pPr>
            <a:lvl2pPr>
              <a:defRPr sz="18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1070" y="1453224"/>
            <a:ext cx="3840480" cy="750887"/>
          </a:xfrm>
        </p:spPr>
        <p:txBody>
          <a:bodyPr anchor="b">
            <a:noAutofit/>
          </a:bodyPr>
          <a:lstStyle>
            <a:lvl1pPr marL="0" indent="0" algn="ctr">
              <a:spcBef>
                <a:spcPts val="0"/>
              </a:spcBef>
              <a:buNone/>
              <a:defRPr sz="2400" b="0">
                <a:solidFill>
                  <a:schemeClr val="accent1">
                    <a:lumMod val="60000"/>
                    <a:lumOff val="4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1070" y="2347415"/>
            <a:ext cx="3840480" cy="3596185"/>
          </a:xfrm>
        </p:spPr>
        <p:txBody>
          <a:bodyPr>
            <a:normAutofit/>
          </a:bodyPr>
          <a:lstStyle>
            <a:lvl1pPr>
              <a:spcBef>
                <a:spcPts val="1600"/>
              </a:spcBef>
              <a:defRPr sz="2000"/>
            </a:lvl1pPr>
            <a:lvl2pPr>
              <a:defRPr sz="18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01F9CA3-105E-4857-9057-6DB6197DA786}" type="datetimeFigureOut">
              <a:rPr lang="en-US" smtClean="0"/>
              <a:t>12/1/15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F5CE407-6216-4202-80E4-A30DC2F709B2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01F9CA3-105E-4857-9057-6DB6197DA786}" type="datetimeFigureOut">
              <a:rPr lang="en-US" smtClean="0"/>
              <a:t>12/1/15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F5CE407-6216-4202-80E4-A30DC2F709B2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01F9CA3-105E-4857-9057-6DB6197DA786}" type="datetimeFigureOut">
              <a:rPr lang="en-US" smtClean="0"/>
              <a:t>12/1/15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F5CE407-6216-4202-80E4-A30DC2F709B2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33399" y="611872"/>
            <a:ext cx="3840480" cy="1162050"/>
          </a:xfrm>
        </p:spPr>
        <p:txBody>
          <a:bodyPr anchor="b"/>
          <a:lstStyle>
            <a:lvl1pPr algn="ctr">
              <a:defRPr sz="3600" b="0"/>
            </a:lvl1pPr>
          </a:lstStyle>
          <a:p>
            <a:r>
              <a:rPr lang="en-US" smtClean="0"/>
              <a:t>Click to edit Master title style</a:t>
            </a:r>
            <a:endParaRPr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742824" y="368300"/>
            <a:ext cx="3840480" cy="5575300"/>
          </a:xfrm>
        </p:spPr>
        <p:txBody>
          <a:bodyPr>
            <a:normAutofit/>
          </a:bodyPr>
          <a:lstStyle>
            <a:lvl1pPr>
              <a:spcBef>
                <a:spcPts val="2000"/>
              </a:spcBef>
              <a:defRPr sz="2200"/>
            </a:lvl1pPr>
            <a:lvl2pPr>
              <a:defRPr sz="20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533399" y="1787856"/>
            <a:ext cx="3840480" cy="3720152"/>
          </a:xfrm>
        </p:spPr>
        <p:txBody>
          <a:bodyPr>
            <a:normAutofit/>
          </a:bodyPr>
          <a:lstStyle>
            <a:lvl1pPr marL="0" indent="0" algn="ctr">
              <a:spcBef>
                <a:spcPts val="600"/>
              </a:spcBef>
              <a:buNone/>
              <a:defRPr sz="18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01F9CA3-105E-4857-9057-6DB6197DA786}" type="datetimeFigureOut">
              <a:rPr lang="en-US" smtClean="0"/>
              <a:t>12/1/15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F5CE407-6216-4202-80E4-A30DC2F709B2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33398" y="611872"/>
            <a:ext cx="4079545" cy="1162050"/>
          </a:xfrm>
        </p:spPr>
        <p:txBody>
          <a:bodyPr anchor="b"/>
          <a:lstStyle>
            <a:lvl1pPr algn="ctr">
              <a:defRPr sz="3600" b="0"/>
            </a:lvl1pPr>
          </a:lstStyle>
          <a:p>
            <a:r>
              <a:rPr lang="en-US" smtClean="0"/>
              <a:t>Click to edit Master title style</a:t>
            </a:r>
            <a:endParaRPr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533398" y="1787856"/>
            <a:ext cx="4079545" cy="3720152"/>
          </a:xfrm>
        </p:spPr>
        <p:txBody>
          <a:bodyPr>
            <a:normAutofit/>
          </a:bodyPr>
          <a:lstStyle>
            <a:lvl1pPr marL="0" indent="0" algn="ctr">
              <a:spcBef>
                <a:spcPts val="600"/>
              </a:spcBef>
              <a:buNone/>
              <a:defRPr sz="18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01F9CA3-105E-4857-9057-6DB6197DA786}" type="datetimeFigureOut">
              <a:rPr lang="en-US" smtClean="0"/>
              <a:t>12/1/15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F5CE407-6216-4202-80E4-A30DC2F709B2}" type="slidenum">
              <a:rPr lang="en-US" smtClean="0"/>
              <a:t>‹#›</a:t>
            </a:fld>
            <a:endParaRPr lang="en-US"/>
          </a:p>
        </p:txBody>
      </p:sp>
      <p:sp>
        <p:nvSpPr>
          <p:cNvPr id="8" name="Picture Placeholder 2"/>
          <p:cNvSpPr>
            <a:spLocks noGrp="1"/>
          </p:cNvSpPr>
          <p:nvPr>
            <p:ph type="pic" idx="1"/>
          </p:nvPr>
        </p:nvSpPr>
        <p:spPr>
          <a:xfrm>
            <a:off x="5090617" y="359392"/>
            <a:ext cx="3657600" cy="5318077"/>
          </a:xfrm>
          <a:ln w="3175">
            <a:solidFill>
              <a:schemeClr val="bg1"/>
            </a:solidFill>
          </a:ln>
          <a:effectLst>
            <a:outerShdw blurRad="63500" sx="100500" sy="100500" algn="ctr" rotWithShape="0">
              <a:prstClr val="black">
                <a:alpha val="50000"/>
              </a:prstClr>
            </a:outerShdw>
          </a:effectLst>
        </p:spPr>
        <p:txBody>
          <a:bodyPr vert="horz" lIns="91440" tIns="45720" rIns="91440" bIns="45720" rtlCol="0">
            <a:normAutofit/>
          </a:bodyPr>
          <a:lstStyle>
            <a:lvl1pPr marL="0" indent="0" algn="l" defTabSz="914400" rtl="0" eaLnBrk="1" latinLnBrk="0" hangingPunct="1">
              <a:spcBef>
                <a:spcPts val="2000"/>
              </a:spcBef>
              <a:buClr>
                <a:schemeClr val="accent1">
                  <a:lumMod val="60000"/>
                  <a:lumOff val="40000"/>
                </a:schemeClr>
              </a:buClr>
              <a:buSzPct val="110000"/>
              <a:buFont typeface="Wingdings 2" pitchFamily="18" charset="2"/>
              <a:buNone/>
              <a:defRPr sz="3200" kern="120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 smtClean="0"/>
              <a:t>Drag picture to placeholder or click icon to add</a:t>
            </a:r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>
            <a:lvl5pPr>
              <a:defRPr/>
            </a:lvl5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01F9CA3-105E-4857-9057-6DB6197DA786}" type="datetimeFigureOut">
              <a:rPr lang="en-US" smtClean="0"/>
              <a:t>12/1/15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F5CE407-6216-4202-80E4-A30DC2F709B2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7369792" y="368301"/>
            <a:ext cx="1524000" cy="5575300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549274" y="368301"/>
            <a:ext cx="6689726" cy="5575300"/>
          </a:xfrm>
        </p:spPr>
        <p:txBody>
          <a:bodyPr vert="eaVert"/>
          <a:lstStyle>
            <a:lvl5pPr>
              <a:defRPr/>
            </a:lvl5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01F9CA3-105E-4857-9057-6DB6197DA786}" type="datetimeFigureOut">
              <a:rPr lang="en-US" smtClean="0"/>
              <a:t>12/1/15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F5CE407-6216-4202-80E4-A30DC2F709B2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3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549275" y="107576"/>
            <a:ext cx="8042276" cy="1336956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en-US" smtClean="0"/>
              <a:t>Click to edit Master title style</a:t>
            </a:r>
            <a:endParaRPr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49275" y="1600201"/>
            <a:ext cx="8042276" cy="43434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5629835" y="6275668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bg1"/>
                </a:solidFill>
              </a:defRPr>
            </a:lvl1pPr>
          </a:lstStyle>
          <a:p>
            <a:fld id="{B01F9CA3-105E-4857-9057-6DB6197DA786}" type="datetimeFigureOut">
              <a:rPr lang="en-US" smtClean="0"/>
              <a:t>12/1/15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264458" y="6275668"/>
            <a:ext cx="4840941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bg1"/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7897906" y="6275668"/>
            <a:ext cx="990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3600">
                <a:solidFill>
                  <a:schemeClr val="bg1"/>
                </a:solidFill>
              </a:defRPr>
            </a:lvl1pPr>
          </a:lstStyle>
          <a:p>
            <a:fld id="{7F5CE407-6216-4202-80E4-A30DC2F709B2}" type="slidenum">
              <a:rPr lang="en-US" smtClean="0"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  <p:sldLayoutId id="2147483672" r:id="rId12"/>
  </p:sldLayoutIdLst>
  <p:txStyles>
    <p:titleStyle>
      <a:lvl1pPr algn="ctr" defTabSz="914400" rtl="0" eaLnBrk="1" latinLnBrk="0" hangingPunct="1">
        <a:spcBef>
          <a:spcPct val="0"/>
        </a:spcBef>
        <a:buNone/>
        <a:defRPr sz="4600" kern="1200">
          <a:solidFill>
            <a:schemeClr val="accent1"/>
          </a:solidFill>
          <a:latin typeface="+mj-lt"/>
          <a:ea typeface="+mj-ea"/>
          <a:cs typeface="+mj-cs"/>
        </a:defRPr>
      </a:lvl1pPr>
    </p:titleStyle>
    <p:bodyStyle>
      <a:lvl1pPr marL="349250" indent="-349250" algn="l" defTabSz="914400" rtl="0" eaLnBrk="1" latinLnBrk="0" hangingPunct="1">
        <a:spcBef>
          <a:spcPts val="2000"/>
        </a:spcBef>
        <a:buClr>
          <a:schemeClr val="accent1">
            <a:lumMod val="60000"/>
            <a:lumOff val="40000"/>
          </a:schemeClr>
        </a:buClr>
        <a:buSzPct val="110000"/>
        <a:buFont typeface="Wingdings 2" pitchFamily="18" charset="2"/>
        <a:buChar char=""/>
        <a:defRPr sz="2400" kern="1200">
          <a:solidFill>
            <a:schemeClr val="tx1">
              <a:lumMod val="65000"/>
              <a:lumOff val="35000"/>
            </a:schemeClr>
          </a:solidFill>
          <a:latin typeface="+mn-lt"/>
          <a:ea typeface="+mn-ea"/>
          <a:cs typeface="+mn-cs"/>
        </a:defRPr>
      </a:lvl1pPr>
      <a:lvl2pPr marL="685800" indent="-336550" algn="l" defTabSz="914400" rtl="0" eaLnBrk="1" latinLnBrk="0" hangingPunct="1">
        <a:spcBef>
          <a:spcPts val="600"/>
        </a:spcBef>
        <a:buClr>
          <a:schemeClr val="accent1">
            <a:lumMod val="75000"/>
          </a:schemeClr>
        </a:buClr>
        <a:buSzPct val="110000"/>
        <a:buFont typeface="Wingdings 2" pitchFamily="18" charset="2"/>
        <a:buChar char=""/>
        <a:defRPr sz="2200" kern="1200">
          <a:solidFill>
            <a:schemeClr val="tx1">
              <a:lumMod val="65000"/>
              <a:lumOff val="35000"/>
            </a:schemeClr>
          </a:solidFill>
          <a:latin typeface="+mn-lt"/>
          <a:ea typeface="+mn-ea"/>
          <a:cs typeface="+mn-cs"/>
        </a:defRPr>
      </a:lvl2pPr>
      <a:lvl3pPr marL="968375" indent="-282575" algn="l" defTabSz="914400" rtl="0" eaLnBrk="1" latinLnBrk="0" hangingPunct="1">
        <a:spcBef>
          <a:spcPts val="600"/>
        </a:spcBef>
        <a:buClr>
          <a:schemeClr val="accent1">
            <a:lumMod val="60000"/>
            <a:lumOff val="40000"/>
          </a:schemeClr>
        </a:buClr>
        <a:buSzPct val="110000"/>
        <a:buFont typeface="Wingdings 2" pitchFamily="18" charset="2"/>
        <a:buChar char=""/>
        <a:defRPr sz="2000" kern="1200">
          <a:solidFill>
            <a:schemeClr val="tx1">
              <a:lumMod val="65000"/>
              <a:lumOff val="35000"/>
            </a:schemeClr>
          </a:solidFill>
          <a:latin typeface="+mn-lt"/>
          <a:ea typeface="+mn-ea"/>
          <a:cs typeface="+mn-cs"/>
        </a:defRPr>
      </a:lvl3pPr>
      <a:lvl4pPr marL="1263650" indent="-295275" algn="l" defTabSz="914400" rtl="0" eaLnBrk="1" latinLnBrk="0" hangingPunct="1">
        <a:spcBef>
          <a:spcPts val="600"/>
        </a:spcBef>
        <a:buClr>
          <a:schemeClr val="accent1">
            <a:lumMod val="75000"/>
          </a:schemeClr>
        </a:buClr>
        <a:buSzPct val="110000"/>
        <a:buFont typeface="Wingdings 2" pitchFamily="18" charset="2"/>
        <a:buChar char=""/>
        <a:defRPr sz="1800" kern="1200">
          <a:solidFill>
            <a:schemeClr val="tx1">
              <a:lumMod val="65000"/>
              <a:lumOff val="35000"/>
            </a:schemeClr>
          </a:solidFill>
          <a:latin typeface="+mn-lt"/>
          <a:ea typeface="+mn-ea"/>
          <a:cs typeface="+mn-cs"/>
        </a:defRPr>
      </a:lvl4pPr>
      <a:lvl5pPr marL="1546225" indent="-282575" algn="l" defTabSz="914400" rtl="0" eaLnBrk="1" latinLnBrk="0" hangingPunct="1">
        <a:spcBef>
          <a:spcPts val="600"/>
        </a:spcBef>
        <a:buClr>
          <a:schemeClr val="accent1">
            <a:lumMod val="60000"/>
            <a:lumOff val="40000"/>
          </a:schemeClr>
        </a:buClr>
        <a:buSzPct val="110000"/>
        <a:buFont typeface="Wingdings 2" pitchFamily="18" charset="2"/>
        <a:buChar char=""/>
        <a:defRPr sz="1800" kern="1200">
          <a:solidFill>
            <a:schemeClr val="tx1">
              <a:lumMod val="65000"/>
              <a:lumOff val="35000"/>
            </a:schemeClr>
          </a:solidFill>
          <a:latin typeface="+mn-lt"/>
          <a:ea typeface="+mn-ea"/>
          <a:cs typeface="+mn-cs"/>
        </a:defRPr>
      </a:lvl5pPr>
      <a:lvl6pPr marL="1828800" indent="-282575" algn="l" defTabSz="914400" rtl="0" eaLnBrk="1" latinLnBrk="0" hangingPunct="1">
        <a:spcBef>
          <a:spcPct val="20000"/>
        </a:spcBef>
        <a:buClr>
          <a:schemeClr val="accent2"/>
        </a:buClr>
        <a:buSzPct val="110000"/>
        <a:buFont typeface="Wingdings 2" pitchFamily="18" charset="2"/>
        <a:buChar char=""/>
        <a:defRPr lang="en-US" sz="1800" kern="1200" dirty="0" smtClean="0">
          <a:solidFill>
            <a:schemeClr val="tx1">
              <a:lumMod val="65000"/>
              <a:lumOff val="35000"/>
            </a:schemeClr>
          </a:solidFill>
          <a:latin typeface="+mn-lt"/>
          <a:ea typeface="+mn-ea"/>
          <a:cs typeface="+mn-cs"/>
        </a:defRPr>
      </a:lvl6pPr>
      <a:lvl7pPr marL="2117725" indent="-282575" algn="l" defTabSz="914400" rtl="0" eaLnBrk="1" latinLnBrk="0" hangingPunct="1">
        <a:spcBef>
          <a:spcPct val="20000"/>
        </a:spcBef>
        <a:buClr>
          <a:schemeClr val="accent1">
            <a:lumMod val="60000"/>
            <a:lumOff val="40000"/>
          </a:schemeClr>
        </a:buClr>
        <a:buSzPct val="110000"/>
        <a:buFont typeface="Wingdings 2" pitchFamily="18" charset="2"/>
        <a:buChar char=""/>
        <a:defRPr lang="en-US" sz="1800" kern="1200" dirty="0" smtClean="0">
          <a:solidFill>
            <a:schemeClr val="tx1">
              <a:lumMod val="65000"/>
              <a:lumOff val="35000"/>
            </a:schemeClr>
          </a:solidFill>
          <a:latin typeface="+mn-lt"/>
          <a:ea typeface="+mn-ea"/>
          <a:cs typeface="+mn-cs"/>
        </a:defRPr>
      </a:lvl7pPr>
      <a:lvl8pPr marL="2398713" indent="-282575" algn="l" defTabSz="914400" rtl="0" eaLnBrk="1" latinLnBrk="0" hangingPunct="1">
        <a:spcBef>
          <a:spcPct val="20000"/>
        </a:spcBef>
        <a:buClr>
          <a:schemeClr val="accent2"/>
        </a:buClr>
        <a:buSzPct val="110000"/>
        <a:buFont typeface="Wingdings 2" pitchFamily="18" charset="2"/>
        <a:buChar char=""/>
        <a:defRPr lang="en-US" sz="1800" kern="1200" dirty="0" smtClean="0">
          <a:solidFill>
            <a:schemeClr val="tx1">
              <a:lumMod val="65000"/>
              <a:lumOff val="35000"/>
            </a:schemeClr>
          </a:solidFill>
          <a:latin typeface="+mn-lt"/>
          <a:ea typeface="+mn-ea"/>
          <a:cs typeface="+mn-cs"/>
        </a:defRPr>
      </a:lvl8pPr>
      <a:lvl9pPr marL="2689225" indent="-282575" algn="l" defTabSz="914400" rtl="0" eaLnBrk="1" latinLnBrk="0" hangingPunct="1">
        <a:spcBef>
          <a:spcPct val="20000"/>
        </a:spcBef>
        <a:buClr>
          <a:schemeClr val="accent1">
            <a:lumMod val="60000"/>
            <a:lumOff val="40000"/>
          </a:schemeClr>
        </a:buClr>
        <a:buSzPct val="110000"/>
        <a:buFont typeface="Wingdings 2" pitchFamily="18" charset="2"/>
        <a:buChar char=""/>
        <a:defRPr lang="en-US" sz="1800" kern="1200" dirty="0">
          <a:solidFill>
            <a:schemeClr val="tx1">
              <a:lumMod val="65000"/>
              <a:lumOff val="35000"/>
            </a:schemeClr>
          </a:solidFill>
          <a:latin typeface="+mn-lt"/>
          <a:ea typeface="+mn-ea"/>
          <a:cs typeface="+mn-cs"/>
        </a:defRPr>
      </a:lvl9pPr>
    </p:bodyStyle>
    <p:otherStyle>
      <a:defPPr>
        <a:defRPr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4" Type="http://schemas.openxmlformats.org/officeDocument/2006/relationships/image" Target="../media/image4.png"/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2.png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hyperlink" Target="http://www.bls.gov/ppi/" TargetMode="Externa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5.png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6.jp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hyperlink" Target="http://latestvegannews.com/report-vegetarian-menus-see-66-percent-growth-since-2012/" TargetMode="External"/><Relationship Id="rId4" Type="http://schemas.openxmlformats.org/officeDocument/2006/relationships/hyperlink" Target="http://blogs.wsj.com/economics/2014/07/22/vegans-rejoice-meat-prices-rising-more-than-fresh-fruits-and-vegetables/" TargetMode="External"/><Relationship Id="rId5" Type="http://schemas.openxmlformats.org/officeDocument/2006/relationships/hyperlink" Target="http://www.forbes.com/sites/ryanmac/2013/11/23/bill-gates-food-fetish-hampton-creek-foods-looks-to-crack-the-egg-industry/" TargetMode="External"/><Relationship Id="rId6" Type="http://schemas.openxmlformats.org/officeDocument/2006/relationships/hyperlink" Target="http://www.dailymail.co.uk/sciencetech/article-3177026/Google-wants-world-meat-free-Search-giant-tried-buy-veggie-burger-start-300-MILLION.html" TargetMode="External"/><Relationship Id="rId7" Type="http://schemas.openxmlformats.org/officeDocument/2006/relationships/hyperlink" Target="http://heavy.com/entertainment/2015/04/heidi-ho-vegan-cheese-shark-tank-products-season-6-episodes-lori-deals/" TargetMode="External"/><Relationship Id="rId1" Type="http://schemas.openxmlformats.org/officeDocument/2006/relationships/slideLayout" Target="../slideLayouts/slideLayout2.xml"/><Relationship Id="rId2" Type="http://schemas.openxmlformats.org/officeDocument/2006/relationships/hyperlink" Target="http://fortune.com/2014/04/18/vegan-cuisine-aims-for-the-mainstream/" TargetMode="Externa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sz="4200" dirty="0" smtClean="0"/>
              <a:t>What are the American people eating? </a:t>
            </a:r>
            <a:endParaRPr lang="en-US" sz="4200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dirty="0"/>
              <a:t>And </a:t>
            </a:r>
            <a:r>
              <a:rPr lang="en-US" dirty="0" smtClean="0"/>
              <a:t>why should we be interested?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17158547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Working hypothesis: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 smtClean="0"/>
              <a:t>If consumers i.e. the American people, are becoming increasingly food-conscious, then they are also buying more food-conscious and we can see that in the form of buying less meat.</a:t>
            </a:r>
          </a:p>
          <a:p>
            <a:pPr lvl="2"/>
            <a:r>
              <a:rPr lang="en-US" dirty="0" smtClean="0"/>
              <a:t>Meat prices have increased while produce prices have decreased based on the Dept. of Labor’s dataset</a:t>
            </a:r>
          </a:p>
          <a:p>
            <a:pPr lvl="3"/>
            <a:r>
              <a:rPr lang="en-US" dirty="0" smtClean="0"/>
              <a:t>Meat takes a lot of space and energy to produce</a:t>
            </a:r>
          </a:p>
          <a:p>
            <a:pPr lvl="2"/>
            <a:r>
              <a:rPr lang="en-US" dirty="0" smtClean="0"/>
              <a:t>Alternative protein sources have emerged</a:t>
            </a:r>
          </a:p>
          <a:p>
            <a:pPr lvl="2"/>
            <a:r>
              <a:rPr lang="en-US" dirty="0" smtClean="0"/>
              <a:t>Cardiovascular health has waned in the last century, with direct correlations to overconsumption of meat</a:t>
            </a:r>
          </a:p>
          <a:p>
            <a:pPr lvl="2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88403167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Where’s the </a:t>
            </a:r>
            <a:r>
              <a:rPr lang="en-US" dirty="0" smtClean="0"/>
              <a:t>data from?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 smtClean="0"/>
              <a:t>Consumer Expenditure Reports from 2010-</a:t>
            </a:r>
            <a:r>
              <a:rPr lang="en-US" dirty="0" smtClean="0"/>
              <a:t>2014</a:t>
            </a:r>
          </a:p>
          <a:p>
            <a:r>
              <a:rPr lang="en-US" dirty="0" smtClean="0"/>
              <a:t>Diary Data vs. Interview Data</a:t>
            </a:r>
          </a:p>
          <a:p>
            <a:pPr lvl="1"/>
            <a:r>
              <a:rPr lang="en-US" dirty="0" smtClean="0"/>
              <a:t>Diary data is collected over 2 consecutive weeks, 4 times a year</a:t>
            </a:r>
          </a:p>
          <a:p>
            <a:pPr lvl="1"/>
            <a:r>
              <a:rPr lang="en-US" dirty="0" smtClean="0"/>
              <a:t>Interview data is collected over 1 consecutive week, once a year</a:t>
            </a:r>
          </a:p>
          <a:p>
            <a:r>
              <a:rPr lang="en-US" dirty="0" smtClean="0"/>
              <a:t>Diary data is meant to collect info on smaller purchases (why I used it)</a:t>
            </a:r>
            <a:endParaRPr lang="en-US" dirty="0" smtClean="0"/>
          </a:p>
        </p:txBody>
      </p:sp>
    </p:spTree>
    <p:extLst>
      <p:ext uri="{BB962C8B-B14F-4D97-AF65-F5344CB8AC3E}">
        <p14:creationId xmlns:p14="http://schemas.microsoft.com/office/powerpoint/2010/main" val="145037320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2014 Meat Consumption</a:t>
            </a:r>
            <a:endParaRPr lang="en-US" dirty="0"/>
          </a:p>
        </p:txBody>
      </p:sp>
      <p:pic>
        <p:nvPicPr>
          <p:cNvPr id="4" name="Content Placeholder 3" descr="MEAT_AGE.png"/>
          <p:cNvPicPr>
            <a:picLocks noGrp="1" noChangeAspect="1"/>
          </p:cNvPicPr>
          <p:nvPr>
            <p:ph idx="1"/>
          </p:nvPr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-11720" r="-11720"/>
          <a:stretch>
            <a:fillRect/>
          </a:stretch>
        </p:blipFill>
        <p:spPr>
          <a:xfrm>
            <a:off x="-165101" y="1739901"/>
            <a:ext cx="5126361" cy="2768599"/>
          </a:xfrm>
        </p:spPr>
      </p:pic>
      <p:pic>
        <p:nvPicPr>
          <p:cNvPr id="5" name="Picture 4" descr="MEAT_FAM.png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054600" y="1841500"/>
            <a:ext cx="4000500" cy="2667000"/>
          </a:xfrm>
          <a:prstGeom prst="rect">
            <a:avLst/>
          </a:prstGeom>
        </p:spPr>
      </p:pic>
      <p:pic>
        <p:nvPicPr>
          <p:cNvPr id="8" name="Picture 7" descr="MEAT_REG.png"/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048000" y="4445000"/>
            <a:ext cx="3562350" cy="237490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469899" y="1426500"/>
            <a:ext cx="873760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 smtClean="0"/>
              <a:t>The meat category consists of: beef, pork, poultry, seafood, and “</a:t>
            </a:r>
            <a:r>
              <a:rPr lang="en-US" dirty="0" err="1" smtClean="0"/>
              <a:t>othmeat</a:t>
            </a:r>
            <a:r>
              <a:rPr lang="en-US" dirty="0" smtClean="0"/>
              <a:t>”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120416866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2014 Produce Consumption</a:t>
            </a:r>
            <a:endParaRPr lang="en-US" dirty="0"/>
          </a:p>
        </p:txBody>
      </p:sp>
      <p:sp>
        <p:nvSpPr>
          <p:cNvPr id="4" name="TextBox 3"/>
          <p:cNvSpPr txBox="1"/>
          <p:nvPr/>
        </p:nvSpPr>
        <p:spPr>
          <a:xfrm>
            <a:off x="1" y="1426500"/>
            <a:ext cx="9143999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 smtClean="0"/>
              <a:t>The produce category consists of: fresh fruit, </a:t>
            </a:r>
            <a:r>
              <a:rPr lang="en-US" dirty="0"/>
              <a:t>fresh </a:t>
            </a:r>
            <a:r>
              <a:rPr lang="en-US" dirty="0" smtClean="0"/>
              <a:t>vegetables, processed fruits, and processed vegetables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89119701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Hiccups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 smtClean="0"/>
              <a:t>Realized that the price of meat greatly exceeds the price of produce</a:t>
            </a:r>
          </a:p>
          <a:p>
            <a:pPr lvl="2"/>
            <a:r>
              <a:rPr lang="en-US" dirty="0" smtClean="0"/>
              <a:t>Solution: convert expenditures into units, based on US Dept. of Labor’s annual </a:t>
            </a:r>
            <a:r>
              <a:rPr lang="en-US" dirty="0"/>
              <a:t>price report</a:t>
            </a:r>
            <a:br>
              <a:rPr lang="en-US" dirty="0"/>
            </a:br>
            <a:r>
              <a:rPr lang="en-US" dirty="0">
                <a:hlinkClick r:id="rId2"/>
              </a:rPr>
              <a:t>http://www.bls.gov/ppi</a:t>
            </a:r>
            <a:r>
              <a:rPr lang="en-US" smtClean="0">
                <a:hlinkClick r:id="rId2"/>
              </a:rPr>
              <a:t>/</a:t>
            </a:r>
            <a:r>
              <a:rPr lang="en-US" smtClean="0"/>
              <a:t> </a:t>
            </a:r>
            <a:endParaRPr lang="en-US" dirty="0" smtClean="0"/>
          </a:p>
        </p:txBody>
      </p:sp>
    </p:spTree>
    <p:extLst>
      <p:ext uri="{BB962C8B-B14F-4D97-AF65-F5344CB8AC3E}">
        <p14:creationId xmlns:p14="http://schemas.microsoft.com/office/powerpoint/2010/main" val="3337870691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Well, what about the fact that not everyone eats out?</a:t>
            </a:r>
            <a:endParaRPr lang="en-US" dirty="0"/>
          </a:p>
        </p:txBody>
      </p:sp>
      <p:pic>
        <p:nvPicPr>
          <p:cNvPr id="4" name="Picture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61838" y="1444532"/>
            <a:ext cx="5918461" cy="459413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06352042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Dining In vs. Dining Out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 smtClean="0"/>
              <a:t>Data shows 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832840833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Based on what evidence?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US" dirty="0" smtClean="0"/>
              <a:t>In 2012, Mintel Menu Insights* reported a 66% increase in vegetarian menu options, with a reported 61% positive consumer reviews</a:t>
            </a:r>
          </a:p>
          <a:p>
            <a:r>
              <a:rPr lang="en-US" dirty="0" smtClean="0"/>
              <a:t>In 2013, the National Restaurant Association* surveyed 1,300 professional chefs for top food trends in restaurants, almost 60% said vegetarian dishes would be a new trend</a:t>
            </a:r>
          </a:p>
          <a:p>
            <a:r>
              <a:rPr lang="en-US" dirty="0" smtClean="0"/>
              <a:t>In 2015, OSU introduced its new kelp strain that tastes like bacon and the World Health Organization released research that real bacon can be as much a cancer-causing agent as cigarettes</a:t>
            </a:r>
            <a:endParaRPr lang="en-US" dirty="0"/>
          </a:p>
        </p:txBody>
      </p:sp>
      <p:sp>
        <p:nvSpPr>
          <p:cNvPr id="4" name="TextBox 3"/>
          <p:cNvSpPr txBox="1"/>
          <p:nvPr/>
        </p:nvSpPr>
        <p:spPr>
          <a:xfrm>
            <a:off x="4991100" y="6496448"/>
            <a:ext cx="415290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 smtClean="0"/>
              <a:t>*Datasets are private and couldn’t verify data</a:t>
            </a:r>
            <a:endParaRPr lang="en-US" sz="1400" dirty="0"/>
          </a:p>
        </p:txBody>
      </p:sp>
    </p:spTree>
    <p:extLst>
      <p:ext uri="{BB962C8B-B14F-4D97-AF65-F5344CB8AC3E}">
        <p14:creationId xmlns:p14="http://schemas.microsoft.com/office/powerpoint/2010/main" val="3690556285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And on the home front: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fontScale="85000" lnSpcReduction="20000"/>
          </a:bodyPr>
          <a:lstStyle/>
          <a:p>
            <a:r>
              <a:rPr lang="en-US" dirty="0" smtClean="0"/>
              <a:t>Just Mayo™, a start-up funded by Hampton Creek boasted celebrity investors Bill Gates, </a:t>
            </a:r>
            <a:r>
              <a:rPr lang="en-US" dirty="0" err="1" smtClean="0"/>
              <a:t>Vinod</a:t>
            </a:r>
            <a:r>
              <a:rPr lang="en-US" dirty="0" smtClean="0"/>
              <a:t> </a:t>
            </a:r>
            <a:r>
              <a:rPr lang="en-US" dirty="0" err="1" smtClean="0"/>
              <a:t>Khosla</a:t>
            </a:r>
            <a:r>
              <a:rPr lang="en-US" dirty="0" smtClean="0"/>
              <a:t>, and Peter Thiel</a:t>
            </a:r>
          </a:p>
          <a:p>
            <a:pPr lvl="1"/>
            <a:r>
              <a:rPr lang="en-US" dirty="0" smtClean="0"/>
              <a:t>Cheaper, cholesterol-free, and chicken free egg alternative</a:t>
            </a:r>
          </a:p>
          <a:p>
            <a:r>
              <a:rPr lang="en-US" dirty="0" smtClean="0"/>
              <a:t>Heidi Ho, the plant-based cheese brand was featured on Shark Tank in 2014, winning Lori Greiner (Shark) as a partner </a:t>
            </a:r>
          </a:p>
          <a:p>
            <a:r>
              <a:rPr lang="en-US" dirty="0"/>
              <a:t>OSU’s new </a:t>
            </a:r>
            <a:r>
              <a:rPr lang="en-US" dirty="0" err="1"/>
              <a:t>dulse</a:t>
            </a:r>
            <a:r>
              <a:rPr lang="en-US" dirty="0"/>
              <a:t> strain that was originally grown to stabilize the abalone market, is now being tested to make </a:t>
            </a:r>
            <a:r>
              <a:rPr lang="en-US" dirty="0" smtClean="0"/>
              <a:t>nonmeat, commercial </a:t>
            </a:r>
            <a:r>
              <a:rPr lang="en-US" dirty="0"/>
              <a:t>products</a:t>
            </a:r>
          </a:p>
          <a:p>
            <a:r>
              <a:rPr lang="en-US" dirty="0" smtClean="0"/>
              <a:t>Nonmeat </a:t>
            </a:r>
            <a:r>
              <a:rPr lang="en-US" dirty="0" smtClean="0"/>
              <a:t>butcher spaces, such as the The Herbivorous Butcher in Minneapolis, are gaining funding through </a:t>
            </a:r>
            <a:r>
              <a:rPr lang="en-US" dirty="0" err="1" smtClean="0"/>
              <a:t>Kickstarter</a:t>
            </a:r>
            <a:r>
              <a:rPr lang="en-US" dirty="0" smtClean="0"/>
              <a:t> campaigns </a:t>
            </a:r>
            <a:r>
              <a:rPr lang="en-US" dirty="0" smtClean="0"/>
              <a:t>(spaces up </a:t>
            </a:r>
            <a:r>
              <a:rPr lang="en-US" dirty="0" smtClean="0"/>
              <a:t>200% since 2014)</a:t>
            </a:r>
          </a:p>
          <a:p>
            <a:r>
              <a:rPr lang="en-US" dirty="0" smtClean="0"/>
              <a:t>Google tried to purchase Impossible Food’s meatless burger, a plant-based burger that “bleeds” like meat </a:t>
            </a:r>
          </a:p>
        </p:txBody>
      </p:sp>
    </p:spTree>
    <p:extLst>
      <p:ext uri="{BB962C8B-B14F-4D97-AF65-F5344CB8AC3E}">
        <p14:creationId xmlns:p14="http://schemas.microsoft.com/office/powerpoint/2010/main" val="3665471978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z="4200" dirty="0" smtClean="0"/>
              <a:t>There will be 9 billion people on the planet by 2050…</a:t>
            </a:r>
            <a:endParaRPr lang="en-US" sz="4200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 smtClean="0"/>
              <a:t>Concerns include:</a:t>
            </a:r>
          </a:p>
          <a:p>
            <a:pPr lvl="2"/>
            <a:r>
              <a:rPr lang="en-US" dirty="0" smtClean="0"/>
              <a:t>Feeding everyone short term and long term</a:t>
            </a:r>
          </a:p>
          <a:p>
            <a:pPr lvl="2"/>
            <a:r>
              <a:rPr lang="en-US" dirty="0" smtClean="0"/>
              <a:t>Feeding everyone at a global level</a:t>
            </a:r>
          </a:p>
          <a:p>
            <a:pPr lvl="2"/>
            <a:r>
              <a:rPr lang="en-US" dirty="0" smtClean="0"/>
              <a:t>Not feeding them </a:t>
            </a:r>
            <a:r>
              <a:rPr lang="en-US" dirty="0" err="1"/>
              <a:t>S</a:t>
            </a:r>
            <a:r>
              <a:rPr lang="en-US" dirty="0" err="1" smtClean="0"/>
              <a:t>oylent</a:t>
            </a:r>
            <a:r>
              <a:rPr lang="en-US" dirty="0" smtClean="0"/>
              <a:t>… </a:t>
            </a:r>
          </a:p>
          <a:p>
            <a:pPr lvl="2"/>
            <a:r>
              <a:rPr lang="en-US" dirty="0" smtClean="0"/>
              <a:t>Health (reducing cardiovascular, cancerous, and pulmonary diseases) </a:t>
            </a:r>
          </a:p>
          <a:p>
            <a:pPr lvl="2"/>
            <a:r>
              <a:rPr lang="en-US" dirty="0" smtClean="0"/>
              <a:t>Reducing carbon footprint </a:t>
            </a:r>
          </a:p>
          <a:p>
            <a:pPr lvl="2"/>
            <a:endParaRPr lang="en-US" dirty="0" smtClean="0"/>
          </a:p>
        </p:txBody>
      </p:sp>
      <p:pic>
        <p:nvPicPr>
          <p:cNvPr id="4" name="Picture 3" descr="soylent.jp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972174" y="4229100"/>
            <a:ext cx="2981325" cy="19875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71976005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Sources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lang="en-US" sz="1000" dirty="0">
                <a:hlinkClick r:id="rId2"/>
              </a:rPr>
              <a:t>http://fortune.com/2014/04/18/vegan-cuisine-aims-for-the-mainstream</a:t>
            </a:r>
            <a:r>
              <a:rPr lang="en-US" sz="1000" dirty="0" smtClean="0">
                <a:hlinkClick r:id="rId2"/>
              </a:rPr>
              <a:t>/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hlinkClick r:id="rId3"/>
              </a:rPr>
              <a:t>http://latestvegannews.com/report-vegetarian-menus-see-66-percent-growth-since-2012/</a:t>
            </a:r>
            <a:r>
              <a:rPr lang="en-US" sz="1000" dirty="0" smtClean="0">
                <a:hlinkClick r:id="rId3"/>
              </a:rPr>
              <a:t>#</a:t>
            </a:r>
            <a:endParaRPr lang="en-US" sz="1000" dirty="0" smtClean="0"/>
          </a:p>
          <a:p>
            <a:pPr marL="0" indent="0">
              <a:buNone/>
            </a:pPr>
            <a:r>
              <a:rPr lang="en-US" sz="1000" dirty="0">
                <a:hlinkClick r:id="rId4"/>
              </a:rPr>
              <a:t>http://blogs.wsj.com/economics/2014/07/22/vegans-rejoice-meat-prices-rising-more-than-fresh-fruits-and-vegetables</a:t>
            </a:r>
            <a:r>
              <a:rPr lang="en-US" sz="1000" dirty="0" smtClean="0">
                <a:hlinkClick r:id="rId4"/>
              </a:rPr>
              <a:t>/</a:t>
            </a:r>
            <a:r>
              <a:rPr lang="en-US" sz="1000" dirty="0" smtClean="0"/>
              <a:t> </a:t>
            </a:r>
          </a:p>
          <a:p>
            <a:pPr marL="0" indent="0">
              <a:buNone/>
            </a:pPr>
            <a:r>
              <a:rPr lang="en-US" sz="1000" dirty="0">
                <a:hlinkClick r:id="rId5"/>
              </a:rPr>
              <a:t>http://www.economist.com/blogs/economist-explains/2015/06/economist-explains-</a:t>
            </a:r>
            <a:r>
              <a:rPr lang="en-US" sz="1000" dirty="0" smtClean="0">
                <a:hlinkClick r:id="rId5"/>
              </a:rPr>
              <a:t>13</a:t>
            </a:r>
          </a:p>
          <a:p>
            <a:pPr marL="0" indent="0">
              <a:buNone/>
            </a:pPr>
            <a:r>
              <a:rPr lang="en-US" sz="1000" dirty="0" smtClean="0">
                <a:hlinkClick r:id="rId5"/>
              </a:rPr>
              <a:t>http</a:t>
            </a:r>
            <a:r>
              <a:rPr lang="en-US" sz="1000" dirty="0">
                <a:hlinkClick r:id="rId5"/>
              </a:rPr>
              <a:t>://www.npr.org/sections/thesalt/2015/10/26/451211964/bad-day-for-bacon-processed-red-meats-cause-cancer-says-</a:t>
            </a:r>
            <a:r>
              <a:rPr lang="en-US" sz="1000" dirty="0" smtClean="0">
                <a:hlinkClick r:id="rId5"/>
              </a:rPr>
              <a:t>who</a:t>
            </a:r>
          </a:p>
          <a:p>
            <a:pPr marL="0" indent="0">
              <a:buNone/>
            </a:pPr>
            <a:r>
              <a:rPr lang="en-US" sz="1000" dirty="0" smtClean="0">
                <a:hlinkClick r:id="rId5"/>
              </a:rPr>
              <a:t>http</a:t>
            </a:r>
            <a:r>
              <a:rPr lang="en-US" sz="1000" dirty="0">
                <a:hlinkClick r:id="rId5"/>
              </a:rPr>
              <a:t>://www.forbes.com/sites/ryanmac/2013/11/23/bill-gates-food-fetish-hampton-creek-foods-looks-to-crack-the-egg-industry</a:t>
            </a:r>
            <a:r>
              <a:rPr lang="en-US" sz="1000" dirty="0" smtClean="0">
                <a:hlinkClick r:id="rId5"/>
              </a:rPr>
              <a:t>/</a:t>
            </a:r>
            <a:endParaRPr lang="en-US" sz="1000" dirty="0" smtClean="0"/>
          </a:p>
          <a:p>
            <a:pPr marL="0" indent="0">
              <a:buNone/>
            </a:pPr>
            <a:r>
              <a:rPr lang="en-US" sz="1000" dirty="0">
                <a:hlinkClick r:id="rId6"/>
              </a:rPr>
              <a:t>http://www.dailymail.co.uk/sciencetech/article-3177026/Google-wants-world-meat-free-Search-giant-tried-buy-veggie-burger-start-300-</a:t>
            </a:r>
            <a:r>
              <a:rPr lang="en-US" sz="1000" dirty="0" smtClean="0">
                <a:hlinkClick r:id="rId6"/>
              </a:rPr>
              <a:t>MILLION.html</a:t>
            </a:r>
            <a:r>
              <a:rPr lang="en-US" sz="1000" dirty="0" smtClean="0"/>
              <a:t> </a:t>
            </a:r>
            <a:endParaRPr lang="en-US" sz="1000" dirty="0"/>
          </a:p>
          <a:p>
            <a:pPr marL="0" indent="0">
              <a:buNone/>
            </a:pPr>
            <a:r>
              <a:rPr lang="en-US" sz="1000" dirty="0" smtClean="0"/>
              <a:t>http</a:t>
            </a:r>
            <a:r>
              <a:rPr lang="en-US" sz="1000" dirty="0"/>
              <a:t>://</a:t>
            </a:r>
            <a:r>
              <a:rPr lang="en-US" sz="1000" dirty="0" err="1"/>
              <a:t>oregonstate.edu</a:t>
            </a:r>
            <a:r>
              <a:rPr lang="en-US" sz="1000" dirty="0"/>
              <a:t>/</a:t>
            </a:r>
            <a:r>
              <a:rPr lang="en-US" sz="1000" dirty="0" err="1"/>
              <a:t>ua</a:t>
            </a:r>
            <a:r>
              <a:rPr lang="en-US" sz="1000" dirty="0"/>
              <a:t>/</a:t>
            </a:r>
            <a:r>
              <a:rPr lang="en-US" sz="1000" dirty="0" err="1"/>
              <a:t>ncs</a:t>
            </a:r>
            <a:r>
              <a:rPr lang="en-US" sz="1000" dirty="0"/>
              <a:t>/archives/2015/</a:t>
            </a:r>
            <a:r>
              <a:rPr lang="en-US" sz="1000" dirty="0" err="1"/>
              <a:t>jul</a:t>
            </a:r>
            <a:r>
              <a:rPr lang="en-US" sz="1000" dirty="0"/>
              <a:t>/</a:t>
            </a:r>
            <a:r>
              <a:rPr lang="en-US" sz="1000" dirty="0" err="1"/>
              <a:t>osu</a:t>
            </a:r>
            <a:r>
              <a:rPr lang="en-US" sz="1000" dirty="0"/>
              <a:t>-researchers-discover-unicorn-–-seaweed-tastes-bacon</a:t>
            </a:r>
            <a:endParaRPr lang="en-US" sz="1000" dirty="0" smtClean="0"/>
          </a:p>
          <a:p>
            <a:pPr marL="0" indent="0">
              <a:buNone/>
            </a:pPr>
            <a:r>
              <a:rPr lang="en-US" sz="1000" dirty="0">
                <a:hlinkClick r:id="rId7"/>
              </a:rPr>
              <a:t>http://heavy.com/entertainment/2015/04/heidi-ho-vegan-cheese-shark-tank-products-season-6-episodes-lori-deals</a:t>
            </a:r>
            <a:r>
              <a:rPr lang="en-US" sz="1000" dirty="0" smtClean="0">
                <a:hlinkClick r:id="rId7"/>
              </a:rPr>
              <a:t>/</a:t>
            </a:r>
            <a:endParaRPr lang="en-US" sz="1000" dirty="0" smtClean="0"/>
          </a:p>
          <a:p>
            <a:pPr marL="0" indent="0">
              <a:buNone/>
            </a:pPr>
            <a:r>
              <a:rPr lang="en-US" sz="1000" dirty="0"/>
              <a:t>http://</a:t>
            </a:r>
            <a:r>
              <a:rPr lang="en-US" sz="1000" dirty="0" err="1"/>
              <a:t>modernfarmer.com</a:t>
            </a:r>
            <a:r>
              <a:rPr lang="en-US" sz="1000" dirty="0"/>
              <a:t>/2014/12/buy-meat-free-meat-</a:t>
            </a:r>
            <a:r>
              <a:rPr lang="en-US" sz="1000" dirty="0" err="1"/>
              <a:t>americas</a:t>
            </a:r>
            <a:r>
              <a:rPr lang="en-US" sz="1000" dirty="0"/>
              <a:t>-new-vegan-butchers/</a:t>
            </a:r>
          </a:p>
        </p:txBody>
      </p:sp>
    </p:spTree>
    <p:extLst>
      <p:ext uri="{BB962C8B-B14F-4D97-AF65-F5344CB8AC3E}">
        <p14:creationId xmlns:p14="http://schemas.microsoft.com/office/powerpoint/2010/main" val="2638349081"/>
      </p:ext>
    </p:extLst>
  </p:cSld>
  <p:clrMapOvr>
    <a:masterClrMapping/>
  </p:clrMapOvr>
</p:sld>
</file>

<file path=ppt/theme/_rels/them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jpeg"/></Relationships>
</file>

<file path=ppt/theme/theme1.xml><?xml version="1.0" encoding="utf-8"?>
<a:theme xmlns:a="http://schemas.openxmlformats.org/drawingml/2006/main" name="Breeze">
  <a:themeElements>
    <a:clrScheme name="Breeze">
      <a:dk1>
        <a:sysClr val="windowText" lastClr="000000"/>
      </a:dk1>
      <a:lt1>
        <a:sysClr val="window" lastClr="FFFFFF"/>
      </a:lt1>
      <a:dk2>
        <a:srgbClr val="09213B"/>
      </a:dk2>
      <a:lt2>
        <a:srgbClr val="D5EDF4"/>
      </a:lt2>
      <a:accent1>
        <a:srgbClr val="2C7C9F"/>
      </a:accent1>
      <a:accent2>
        <a:srgbClr val="244A58"/>
      </a:accent2>
      <a:accent3>
        <a:srgbClr val="E2751D"/>
      </a:accent3>
      <a:accent4>
        <a:srgbClr val="FFB400"/>
      </a:accent4>
      <a:accent5>
        <a:srgbClr val="7EB606"/>
      </a:accent5>
      <a:accent6>
        <a:srgbClr val="C00000"/>
      </a:accent6>
      <a:hlink>
        <a:srgbClr val="7030A0"/>
      </a:hlink>
      <a:folHlink>
        <a:srgbClr val="00B0F0"/>
      </a:folHlink>
    </a:clrScheme>
    <a:fontScheme name="Breeze">
      <a:majorFont>
        <a:latin typeface="News Gothic MT"/>
        <a:ea typeface=""/>
        <a:cs typeface=""/>
        <a:font script="Jpan" typeface="ＭＳ Ｐゴシック"/>
        <a:font script="Hans" typeface="宋体"/>
        <a:font script="Hant" typeface="新細明體"/>
      </a:majorFont>
      <a:minorFont>
        <a:latin typeface="News Gothic MT"/>
        <a:ea typeface=""/>
        <a:cs typeface=""/>
        <a:font script="Jpan" typeface="ＭＳ Ｐゴシック"/>
        <a:font script="Hans" typeface="宋体"/>
        <a:font script="Hant" typeface="新細明體"/>
      </a:minorFont>
    </a:fontScheme>
    <a:fmtScheme name="Breeze">
      <a:fillStyleLst>
        <a:solidFill>
          <a:schemeClr val="phClr"/>
        </a:solidFill>
        <a:gradFill rotWithShape="1">
          <a:gsLst>
            <a:gs pos="31000">
              <a:schemeClr val="phClr">
                <a:tint val="100000"/>
                <a:shade val="100000"/>
                <a:satMod val="120000"/>
              </a:schemeClr>
            </a:gs>
            <a:gs pos="100000">
              <a:schemeClr val="phClr">
                <a:tint val="50000"/>
                <a:satMod val="150000"/>
              </a:schemeClr>
            </a:gs>
          </a:gsLst>
          <a:lin ang="5400000" scaled="1"/>
        </a:gradFill>
        <a:gradFill rotWithShape="1">
          <a:gsLst>
            <a:gs pos="0">
              <a:schemeClr val="phClr">
                <a:shade val="100000"/>
                <a:satMod val="120000"/>
              </a:schemeClr>
            </a:gs>
            <a:gs pos="69000">
              <a:schemeClr val="phClr">
                <a:tint val="80000"/>
                <a:shade val="100000"/>
                <a:satMod val="150000"/>
              </a:schemeClr>
            </a:gs>
            <a:gs pos="100000">
              <a:schemeClr val="phClr">
                <a:tint val="50000"/>
                <a:shade val="100000"/>
                <a:satMod val="150000"/>
              </a:schemeClr>
            </a:gs>
          </a:gsLst>
          <a:path path="circle">
            <a:fillToRect l="100000" t="100000" r="100000" b="100000"/>
          </a:path>
        </a:gradFill>
      </a:fillStyleLst>
      <a:lnStyleLst>
        <a:ln w="12700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dbl" algn="ctr">
          <a:solidFill>
            <a:schemeClr val="phClr"/>
          </a:solidFill>
          <a:prstDash val="solid"/>
        </a:ln>
        <a:ln w="31750" cap="flat" cmpd="dbl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63500" dist="25400" dir="5400000" sx="101000" sy="101000" rotWithShape="0">
              <a:srgbClr val="000000">
                <a:alpha val="40000"/>
              </a:srgbClr>
            </a:outerShdw>
          </a:effectLst>
        </a:effectStyle>
        <a:effectStyle>
          <a:effectLst>
            <a:innerShdw blurRad="127000" dist="25400" dir="13500000">
              <a:srgbClr val="C0C0C0">
                <a:alpha val="75000"/>
              </a:srgbClr>
            </a:innerShdw>
            <a:outerShdw blurRad="88900" dist="25400" dir="5400000" sx="102000" sy="102000" algn="ctr" rotWithShape="0">
              <a:srgbClr val="C0C0C0">
                <a:alpha val="40000"/>
              </a:srgbClr>
            </a:outerShdw>
          </a:effectLst>
          <a:scene3d>
            <a:camera prst="perspectiveLeft" fov="300000"/>
            <a:lightRig rig="soft" dir="l">
              <a:rot lat="0" lon="0" rev="4200000"/>
            </a:lightRig>
          </a:scene3d>
          <a:sp3d extrusionH="38100" prstMaterial="powder">
            <a:bevelT w="50800" h="88900" prst="convex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blipFill rotWithShape="1">
          <a:blip xmlns:r="http://schemas.openxmlformats.org/officeDocument/2006/relationships" r:embed="rId1">
            <a:duotone>
              <a:schemeClr val="phClr">
                <a:shade val="40000"/>
                <a:satMod val="400000"/>
              </a:schemeClr>
              <a:schemeClr val="phClr">
                <a:tint val="10000"/>
                <a:satMod val="200000"/>
              </a:schemeClr>
            </a:duotone>
          </a:blip>
          <a:stretch/>
        </a:blipFill>
      </a:bgFillStyleLst>
    </a:fmtScheme>
  </a:themeElements>
  <a:objectDefaults>
    <a:spDef>
      <a:spPr/>
      <a:bodyPr rtlCol="0" anchor="ctr"/>
      <a:lstStyle>
        <a:defPPr algn="ctr">
          <a:defRPr/>
        </a:defPPr>
      </a:lstStyle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>Breeze.thmx</Template>
  <TotalTime>553</TotalTime>
  <Words>860</Words>
  <Application>Microsoft Macintosh PowerPoint</Application>
  <PresentationFormat>On-screen Show (4:3)</PresentationFormat>
  <Paragraphs>54</Paragraphs>
  <Slides>12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3" baseType="lpstr">
      <vt:lpstr>Breeze</vt:lpstr>
      <vt:lpstr>What are the American people eating? </vt:lpstr>
      <vt:lpstr>Working hypothesis:</vt:lpstr>
      <vt:lpstr>Where’s the data from?</vt:lpstr>
      <vt:lpstr>2014 Meat Consumption</vt:lpstr>
      <vt:lpstr>2014 Produce Consumption</vt:lpstr>
      <vt:lpstr>Hiccups</vt:lpstr>
      <vt:lpstr>Well, what about the fact that not everyone eats out?</vt:lpstr>
      <vt:lpstr>Dining In vs. Dining Out</vt:lpstr>
      <vt:lpstr>Based on what evidence?</vt:lpstr>
      <vt:lpstr>And on the home front:</vt:lpstr>
      <vt:lpstr>There will be 9 billion people on the planet by 2050…</vt:lpstr>
      <vt:lpstr>Sources</vt:lpstr>
    </vt:vector>
  </TitlesOfParts>
  <Company/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What are the food-buying trends of Americans? </dc:title>
  <dc:creator>Renee Hosogi</dc:creator>
  <cp:lastModifiedBy>Renee Hosogi</cp:lastModifiedBy>
  <cp:revision>23</cp:revision>
  <dcterms:created xsi:type="dcterms:W3CDTF">2015-12-01T00:58:54Z</dcterms:created>
  <dcterms:modified xsi:type="dcterms:W3CDTF">2015-12-01T20:35:01Z</dcterms:modified>
</cp:coreProperties>
</file>